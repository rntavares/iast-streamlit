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</p:sldMasterIdLst>
  <p:notesMasterIdLst>
    <p:notesMasterId r:id="rId13"/>
  </p:notesMasterIdLst>
  <p:handoutMasterIdLst>
    <p:handoutMasterId r:id="rId14"/>
  </p:handout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</p:sldIdLst>
  <p:sldSz cx="18288000" cy="10287000"/>
  <p:notesSz cx="6858000" cy="9144000"/>
  <p:defaultTextStyle>
    <a:defPPr>
      <a:defRPr lang="en-US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sign" id="{FA98A53D-3835-46EC-8D56-4737810CF699}">
          <p14:sldIdLst>
            <p14:sldId id="572"/>
            <p14:sldId id="599"/>
            <p14:sldId id="600"/>
            <p14:sldId id="601"/>
            <p14:sldId id="602"/>
            <p14:sldId id="603"/>
            <p14:sldId id="604"/>
            <p14:sldId id="605"/>
            <p14:sldId id="606"/>
            <p14:sldId id="607"/>
            <p14:sldId id="58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0F59"/>
    <a:srgbClr val="9A0D3B"/>
    <a:srgbClr val="0B1527"/>
    <a:srgbClr val="020407"/>
    <a:srgbClr val="0A1322"/>
    <a:srgbClr val="B00E43"/>
    <a:srgbClr val="F5F5F5"/>
    <a:srgbClr val="000000"/>
    <a:srgbClr val="1B1B1B"/>
    <a:srgbClr val="AF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6" autoAdjust="0"/>
    <p:restoredTop sz="94658"/>
  </p:normalViewPr>
  <p:slideViewPr>
    <p:cSldViewPr snapToGrid="0">
      <p:cViewPr varScale="1">
        <p:scale>
          <a:sx n="80" d="100"/>
          <a:sy n="80" d="100"/>
        </p:scale>
        <p:origin x="5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8.xml"/><Relationship Id="rId38" Type="http://schemas.openxmlformats.org/officeDocument/2006/relationships/slide" Target="slides/slide19.xml"/><Relationship Id="rId39" Type="http://schemas.openxmlformats.org/officeDocument/2006/relationships/slide" Target="slides/slide2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84A51B-13BF-326B-C25F-0084182519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A7ADFD-2107-F4F5-8721-E28C913C71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F7EBC8-DF47-47B9-B7F5-2CB06F302988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21BBCB-86F2-4A50-D624-19C7618D022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AC57B-B3E0-2050-F9CD-39A219CDF8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42198-F140-41E7-A44A-C3C116473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0929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4D879-1A0A-D44F-8CAF-A6DE8D84D4FB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DE089-5E0D-4F42-A2B3-B4BC8AEE8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44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75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12AB3BF-55CE-FD5C-A188-D97E445D0B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872790" y="1"/>
            <a:ext cx="7415210" cy="10287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32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F7E0E76-1F36-C45D-5A5C-8AE14E9347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5163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F1E0921-40B9-D026-E88E-08C7AED8C41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99225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2FF481F-95A7-45CE-5E16-2F19F28330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333287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2902ACF7-F402-36DE-E2F2-1CBE6DB4A5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1988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E6CD573-2023-79F2-8F18-E311E9EEC1D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96050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FD12191E-70C8-DE83-0BED-8BC3D4CBB3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330112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98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103D3B0-6168-6964-0338-9C8AABA1F7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3111" y="3900869"/>
            <a:ext cx="8878824" cy="5724144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242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ED8CCB-6451-EB4A-7FEE-73EC1AFB1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38725" y="2204295"/>
            <a:ext cx="3836988" cy="3826400"/>
          </a:xfrm>
          <a:custGeom>
            <a:avLst/>
            <a:gdLst>
              <a:gd name="connsiteX0" fmla="*/ 96364 w 1331913"/>
              <a:gd name="connsiteY0" fmla="*/ 0 h 1328238"/>
              <a:gd name="connsiteX1" fmla="*/ 1235549 w 1331913"/>
              <a:gd name="connsiteY1" fmla="*/ 0 h 1328238"/>
              <a:gd name="connsiteX2" fmla="*/ 1331913 w 1331913"/>
              <a:gd name="connsiteY2" fmla="*/ 96364 h 1328238"/>
              <a:gd name="connsiteX3" fmla="*/ 1331913 w 1331913"/>
              <a:gd name="connsiteY3" fmla="*/ 1231874 h 1328238"/>
              <a:gd name="connsiteX4" fmla="*/ 1235549 w 1331913"/>
              <a:gd name="connsiteY4" fmla="*/ 1328238 h 1328238"/>
              <a:gd name="connsiteX5" fmla="*/ 96364 w 1331913"/>
              <a:gd name="connsiteY5" fmla="*/ 1328238 h 1328238"/>
              <a:gd name="connsiteX6" fmla="*/ 0 w 1331913"/>
              <a:gd name="connsiteY6" fmla="*/ 1231874 h 1328238"/>
              <a:gd name="connsiteX7" fmla="*/ 0 w 1331913"/>
              <a:gd name="connsiteY7" fmla="*/ 96364 h 1328238"/>
              <a:gd name="connsiteX8" fmla="*/ 96364 w 1331913"/>
              <a:gd name="connsiteY8" fmla="*/ 0 h 1328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1913" h="1328238">
                <a:moveTo>
                  <a:pt x="96364" y="0"/>
                </a:moveTo>
                <a:lnTo>
                  <a:pt x="1235549" y="0"/>
                </a:lnTo>
                <a:cubicBezTo>
                  <a:pt x="1288769" y="0"/>
                  <a:pt x="1331913" y="43144"/>
                  <a:pt x="1331913" y="96364"/>
                </a:cubicBezTo>
                <a:lnTo>
                  <a:pt x="1331913" y="1231874"/>
                </a:lnTo>
                <a:cubicBezTo>
                  <a:pt x="1331913" y="1285094"/>
                  <a:pt x="1288769" y="1328238"/>
                  <a:pt x="1235549" y="1328238"/>
                </a:cubicBezTo>
                <a:lnTo>
                  <a:pt x="96364" y="1328238"/>
                </a:lnTo>
                <a:cubicBezTo>
                  <a:pt x="43144" y="1328238"/>
                  <a:pt x="0" y="1285094"/>
                  <a:pt x="0" y="1231874"/>
                </a:cubicBezTo>
                <a:lnTo>
                  <a:pt x="0" y="96364"/>
                </a:lnTo>
                <a:cubicBezTo>
                  <a:pt x="0" y="43144"/>
                  <a:pt x="43144" y="0"/>
                  <a:pt x="96364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90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ED8CCB-6451-EB4A-7FEE-73EC1AFB1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81400" y="3423713"/>
            <a:ext cx="3836988" cy="382640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18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10B1B8F-A07F-BC7C-86B2-4D90D8EE1D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07525" y="661988"/>
            <a:ext cx="8211312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C2D63ACF-810C-81D6-0A2C-B2CCA0FA3FE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81885" y="5391342"/>
            <a:ext cx="3840480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235726A-0694-7443-C283-B589A53819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7529" y="5391342"/>
            <a:ext cx="3840480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47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10999856-B4C6-88C9-C70C-9F9B9F0FD6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4369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66CCDDF-7DF3-63E1-B4CE-FDE335EEA1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34441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2AD98E8-87A6-3FA0-1F41-9BC038A331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8796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9DD10A45-9215-6907-5778-FE32AE4E35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783153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5323B5D6-0438-18B5-EC5B-118829A125A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4368" y="5382195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264065C-1ABC-29A9-732A-0C25683F22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38725" y="5382195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33D9C92B-8244-A0CA-A645-F1078A33947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1670" y="7265714"/>
            <a:ext cx="3840480" cy="3472624"/>
          </a:xfrm>
          <a:prstGeom prst="roundRect">
            <a:avLst>
              <a:gd name="adj" fmla="val 4418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5A14A5BE-2991-0A38-994F-2E74383821C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35233" y="-422032"/>
            <a:ext cx="3840480" cy="1605029"/>
          </a:xfrm>
          <a:prstGeom prst="roundRect">
            <a:avLst>
              <a:gd name="adj" fmla="val 8216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7F2A06A-3F5E-A2A1-DD0C-352D495596B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1670" y="-422032"/>
            <a:ext cx="3840480" cy="3636966"/>
          </a:xfrm>
          <a:prstGeom prst="roundRect">
            <a:avLst>
              <a:gd name="adj" fmla="val 4418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7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1F275329-C137-4654-AB01-9BEF2A4F9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0DC88D9-648B-4CE8-8B27-980F44B5EB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863230" y="4297691"/>
            <a:ext cx="3424770" cy="4190094"/>
          </a:xfrm>
          <a:custGeom>
            <a:avLst/>
            <a:gdLst>
              <a:gd name="connsiteX0" fmla="*/ 698349 w 2283180"/>
              <a:gd name="connsiteY0" fmla="*/ 0 h 2793396"/>
              <a:gd name="connsiteX1" fmla="*/ 2283180 w 2283180"/>
              <a:gd name="connsiteY1" fmla="*/ 0 h 2793396"/>
              <a:gd name="connsiteX2" fmla="*/ 2283180 w 2283180"/>
              <a:gd name="connsiteY2" fmla="*/ 2793396 h 2793396"/>
              <a:gd name="connsiteX3" fmla="*/ 0 w 2283180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3180" h="2793396">
                <a:moveTo>
                  <a:pt x="698349" y="0"/>
                </a:moveTo>
                <a:lnTo>
                  <a:pt x="2283180" y="0"/>
                </a:lnTo>
                <a:lnTo>
                  <a:pt x="2283180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ABC970B-89F4-46AC-AA98-F84A4B7DEA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52531" y="4297691"/>
            <a:ext cx="5433426" cy="4190094"/>
          </a:xfrm>
          <a:custGeom>
            <a:avLst/>
            <a:gdLst>
              <a:gd name="connsiteX0" fmla="*/ 698349 w 3622284"/>
              <a:gd name="connsiteY0" fmla="*/ 0 h 2793396"/>
              <a:gd name="connsiteX1" fmla="*/ 3622284 w 3622284"/>
              <a:gd name="connsiteY1" fmla="*/ 0 h 2793396"/>
              <a:gd name="connsiteX2" fmla="*/ 2923935 w 3622284"/>
              <a:gd name="connsiteY2" fmla="*/ 2793396 h 2793396"/>
              <a:gd name="connsiteX3" fmla="*/ 0 w 3622284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2284" h="2793396">
                <a:moveTo>
                  <a:pt x="698349" y="0"/>
                </a:moveTo>
                <a:lnTo>
                  <a:pt x="3622284" y="0"/>
                </a:lnTo>
                <a:lnTo>
                  <a:pt x="2923935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351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11EA3894-937B-4CA3-8E14-6FF6285176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9354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85A26F2-CB99-8D3F-CEF9-61A4C6B7D8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26830" y="2316479"/>
            <a:ext cx="3556635" cy="6167259"/>
          </a:xfrm>
          <a:custGeom>
            <a:avLst/>
            <a:gdLst>
              <a:gd name="connsiteX0" fmla="*/ 0 w 2371090"/>
              <a:gd name="connsiteY0" fmla="*/ 0 h 4111506"/>
              <a:gd name="connsiteX1" fmla="*/ 2371090 w 2371090"/>
              <a:gd name="connsiteY1" fmla="*/ 0 h 4111506"/>
              <a:gd name="connsiteX2" fmla="*/ 2371090 w 2371090"/>
              <a:gd name="connsiteY2" fmla="*/ 4111506 h 4111506"/>
              <a:gd name="connsiteX3" fmla="*/ 927428 w 2371090"/>
              <a:gd name="connsiteY3" fmla="*/ 4111506 h 4111506"/>
              <a:gd name="connsiteX4" fmla="*/ 0 w 2371090"/>
              <a:gd name="connsiteY4" fmla="*/ 3184078 h 4111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4111506">
                <a:moveTo>
                  <a:pt x="0" y="0"/>
                </a:moveTo>
                <a:lnTo>
                  <a:pt x="2371090" y="0"/>
                </a:lnTo>
                <a:lnTo>
                  <a:pt x="2371090" y="4111506"/>
                </a:lnTo>
                <a:lnTo>
                  <a:pt x="927428" y="4111506"/>
                </a:lnTo>
                <a:lnTo>
                  <a:pt x="0" y="318407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11627F-9C3A-8C6C-F7C6-CA1CC2650EE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607290" y="1813412"/>
            <a:ext cx="3556635" cy="4201152"/>
          </a:xfrm>
          <a:custGeom>
            <a:avLst/>
            <a:gdLst>
              <a:gd name="connsiteX0" fmla="*/ 0 w 2371090"/>
              <a:gd name="connsiteY0" fmla="*/ 0 h 2800768"/>
              <a:gd name="connsiteX1" fmla="*/ 1321740 w 2371090"/>
              <a:gd name="connsiteY1" fmla="*/ 0 h 2800768"/>
              <a:gd name="connsiteX2" fmla="*/ 2371090 w 2371090"/>
              <a:gd name="connsiteY2" fmla="*/ 1049350 h 2800768"/>
              <a:gd name="connsiteX3" fmla="*/ 2371090 w 2371090"/>
              <a:gd name="connsiteY3" fmla="*/ 2800768 h 2800768"/>
              <a:gd name="connsiteX4" fmla="*/ 0 w 2371090"/>
              <a:gd name="connsiteY4" fmla="*/ 2800768 h 280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2800768">
                <a:moveTo>
                  <a:pt x="0" y="0"/>
                </a:moveTo>
                <a:lnTo>
                  <a:pt x="1321740" y="0"/>
                </a:lnTo>
                <a:lnTo>
                  <a:pt x="2371090" y="1049350"/>
                </a:lnTo>
                <a:lnTo>
                  <a:pt x="2371090" y="2800768"/>
                </a:lnTo>
                <a:lnTo>
                  <a:pt x="0" y="280076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8713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753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12" r:id="rId2"/>
    <p:sldLayoutId id="2147483708" r:id="rId3"/>
    <p:sldLayoutId id="2147483718" r:id="rId4"/>
    <p:sldLayoutId id="2147483714" r:id="rId5"/>
    <p:sldLayoutId id="2147483722" r:id="rId6"/>
    <p:sldLayoutId id="2147483719" r:id="rId7"/>
    <p:sldLayoutId id="2147483720" r:id="rId8"/>
    <p:sldLayoutId id="2147483721" r:id="rId9"/>
    <p:sldLayoutId id="2147483727" r:id="rId10"/>
    <p:sldLayoutId id="2147483728" r:id="rId11"/>
    <p:sldLayoutId id="2147483734" r:id="rId12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2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2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2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2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2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" userDrawn="1">
          <p15:clr>
            <a:srgbClr val="F26B43"/>
          </p15:clr>
        </p15:guide>
        <p15:guide id="2" orient="horz" pos="6063" userDrawn="1">
          <p15:clr>
            <a:srgbClr val="F26B43"/>
          </p15:clr>
        </p15:guide>
        <p15:guide id="3" pos="11102" userDrawn="1">
          <p15:clr>
            <a:srgbClr val="F26B43"/>
          </p15:clr>
        </p15:guide>
        <p15:guide id="4" pos="419" userDrawn="1">
          <p15:clr>
            <a:srgbClr val="F26B43"/>
          </p15:clr>
        </p15:guide>
        <p15:guide id="5" pos="1338" userDrawn="1">
          <p15:clr>
            <a:srgbClr val="F26B43"/>
          </p15:clr>
        </p15:guide>
        <p15:guide id="6" pos="998" userDrawn="1">
          <p15:clr>
            <a:srgbClr val="F26B43"/>
          </p15:clr>
        </p15:guide>
        <p15:guide id="7" pos="1916" userDrawn="1">
          <p15:clr>
            <a:srgbClr val="F26B43"/>
          </p15:clr>
        </p15:guide>
        <p15:guide id="8" pos="2256" userDrawn="1">
          <p15:clr>
            <a:srgbClr val="F26B43"/>
          </p15:clr>
        </p15:guide>
        <p15:guide id="9" pos="2835" userDrawn="1">
          <p15:clr>
            <a:srgbClr val="F26B43"/>
          </p15:clr>
        </p15:guide>
        <p15:guide id="10" pos="3174" userDrawn="1">
          <p15:clr>
            <a:srgbClr val="F26B43"/>
          </p15:clr>
        </p15:guide>
        <p15:guide id="11" pos="3753" userDrawn="1">
          <p15:clr>
            <a:srgbClr val="F26B43"/>
          </p15:clr>
        </p15:guide>
        <p15:guide id="12" pos="4094" userDrawn="1">
          <p15:clr>
            <a:srgbClr val="F26B43"/>
          </p15:clr>
        </p15:guide>
        <p15:guide id="13" pos="4671" userDrawn="1">
          <p15:clr>
            <a:srgbClr val="F26B43"/>
          </p15:clr>
        </p15:guide>
        <p15:guide id="14" pos="5012" userDrawn="1">
          <p15:clr>
            <a:srgbClr val="F26B43"/>
          </p15:clr>
        </p15:guide>
        <p15:guide id="15" pos="5591" userDrawn="1">
          <p15:clr>
            <a:srgbClr val="F26B43"/>
          </p15:clr>
        </p15:guide>
        <p15:guide id="16" pos="5930" userDrawn="1">
          <p15:clr>
            <a:srgbClr val="F26B43"/>
          </p15:clr>
        </p15:guide>
        <p15:guide id="17" pos="6509" userDrawn="1">
          <p15:clr>
            <a:srgbClr val="F26B43"/>
          </p15:clr>
        </p15:guide>
        <p15:guide id="18" pos="6849" userDrawn="1">
          <p15:clr>
            <a:srgbClr val="F26B43"/>
          </p15:clr>
        </p15:guide>
        <p15:guide id="19" pos="7427" userDrawn="1">
          <p15:clr>
            <a:srgbClr val="F26B43"/>
          </p15:clr>
        </p15:guide>
        <p15:guide id="20" pos="7767" userDrawn="1">
          <p15:clr>
            <a:srgbClr val="F26B43"/>
          </p15:clr>
        </p15:guide>
        <p15:guide id="21" pos="8346" userDrawn="1">
          <p15:clr>
            <a:srgbClr val="F26B43"/>
          </p15:clr>
        </p15:guide>
        <p15:guide id="22" pos="8685" userDrawn="1">
          <p15:clr>
            <a:srgbClr val="F26B43"/>
          </p15:clr>
        </p15:guide>
        <p15:guide id="23" pos="9264" userDrawn="1">
          <p15:clr>
            <a:srgbClr val="F26B43"/>
          </p15:clr>
        </p15:guide>
        <p15:guide id="24" pos="9605" userDrawn="1">
          <p15:clr>
            <a:srgbClr val="F26B43"/>
          </p15:clr>
        </p15:guide>
        <p15:guide id="25" pos="10182" userDrawn="1">
          <p15:clr>
            <a:srgbClr val="F26B43"/>
          </p15:clr>
        </p15:guide>
        <p15:guide id="26" pos="10523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Deploy e Monitoramento de 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537146" y="4033334"/>
            <a:ext cx="151749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>Monitoramento de Performance e </a:t>
            </a:r>
            <a:r>
              <a:rPr lang="pt-BR" sz="6600" dirty="0" err="1">
                <a:solidFill>
                  <a:schemeClr val="bg2"/>
                </a:solidFill>
                <a:latin typeface="GothamHTF-Book" pitchFamily="2" charset="0"/>
              </a:rPr>
              <a:t>Detecção de Drift</a:t>
            </a:r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/>
            </a:r>
            <a:endParaRPr lang="en-BR" sz="66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en-US" sz="2800" dirty="0">
                <a:solidFill>
                  <a:schemeClr val="bg2"/>
                </a:solidFill>
                <a:latin typeface="GothamHTF-Book" pitchFamily="2" charset="0"/>
              </a:rPr>
              <a:t>PARTE 01</a:t>
            </a:r>
            <a:endParaRPr lang="en-ID" sz="2800" dirty="0">
              <a:solidFill>
                <a:schemeClr val="accent2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Rafael Tavares</a:t>
            </a:r>
            <a:endParaRPr lang="id-ID" sz="1800" dirty="0">
              <a:solidFill>
                <a:schemeClr val="bg2">
                  <a:lumMod val="7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05246"/>
            <a:ext cx="12585699" cy="38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• Por que modelos degradam com o tempo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Os três níveis de monitoramento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Infraestrutura, dados e modelo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O problema do ground truth atrasado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Métricas de proxy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Huyen, C. (2022). Designing Machine Learning Systems.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PARTE 01 —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ENTENDENDO A DEGRADAÇÃO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37330"/>
            <a:ext cx="12585699" cy="504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Um modelo aprende uma fotografia do mundo — mas o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mundo é um filme, não uma foto.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A pergunta não é SE o modelo vai degradar, mas QUANDO e QUÃO RÁPIDO.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Os três níveis de monitoramento: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Infraestrutura — latência, CPU/memória, erros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Dados — valores nulos, ranges, distribuição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Modelo — acurácia, F1, drift de predições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Huyen, C. (2022). Designing Machine Learning Systems.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POR QUE MODELOS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DEGRADAM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CD2A0031-E0CE-5D25-C245-F546B99D29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958DDA97-3A59-EAB5-29CB-30DB58682F0C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CC1A55E6-E3D5-F91D-001F-7EBD3C80BC35}"/>
              </a:ext>
            </a:extLst>
          </p:cNvPr>
          <p:cNvSpPr txBox="1"/>
          <p:nvPr/>
        </p:nvSpPr>
        <p:spPr>
          <a:xfrm>
            <a:off x="632025" y="3956795"/>
            <a:ext cx="7323255" cy="5668218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GROUND TRUTH IMEDIATO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Mede a performance direta do modelo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Acurácia, F1 e RMSE reais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Ex: fraude confirmada no mesmo dia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55" name="TextBox 6">
            <a:extLst>
              <a:ext uri="{FF2B5EF4-FFF2-40B4-BE49-F238E27FC236}">
                <a16:creationId xmlns:a16="http://schemas.microsoft.com/office/drawing/2014/main" id="{9308E0BC-B29F-429F-4841-177AAF806E45}"/>
              </a:ext>
            </a:extLst>
          </p:cNvPr>
          <p:cNvSpPr txBox="1"/>
          <p:nvPr/>
        </p:nvSpPr>
        <p:spPr>
          <a:xfrm>
            <a:off x="9393107" y="4880124"/>
            <a:ext cx="7559870" cy="4744889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GROUND TRUTH ATRASADO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O resultado real só chega depois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Ex: churn confirmado em 30 dias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Recorremos a métricas de proxy: o drift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Ref: Huyen, C. (2022). Designing Machine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Learning Systems. O'Reilly Media.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E651B861-229C-4274-AC94-1E224E1EAED2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O PROBLEMA DO GROUND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TRUTH ATRASADO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E246EA09-ABE3-3076-03FB-97AB23F374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144D7D88-24C6-8A43-B586-515BBA80E5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latin typeface="GothamHTF-Book"/>
              </a:rPr>
              <a:t>92% VIRA 70% — EM SILÊNCIO</a:t>
            </a:r>
          </a:p>
          <a:p>
            <a:endParaRPr sz="5000">
              <a:latin typeface="GothamHTF-Book"/>
            </a:endParaRPr>
          </a:p>
          <a:p>
            <a:r>
              <a:rPr sz="2800" b="0">
                <a:latin typeface="Roboto Light"/>
              </a:rPr>
              <a:t>O modelo que acertou 92% no dia do deploy pode estar</a:t>
            </a:r>
          </a:p>
          <a:p>
            <a:r>
              <a:rPr sz="2800" b="0">
                <a:latin typeface="Roboto Light"/>
              </a:rPr>
              <a:t>tomando decisões erradas meses depois, sem que ninguém perceba.</a:t>
            </a:r>
          </a:p>
          <a:p>
            <a:endParaRPr sz="2800" b="0">
              <a:latin typeface="Roboto Light"/>
            </a:endParaRPr>
          </a:p>
          <a:p>
            <a:r>
              <a:rPr sz="2800" b="0">
                <a:latin typeface="Roboto Light"/>
              </a:rPr>
              <a:t>Fonte: cenário típico de degradação de modelos em produção sem monitoramento.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CB89C133-E752-2C44-B5C9-B548033CEDC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eeform: Shape 1041">
            <a:extLst>
              <a:ext uri="{FF2B5EF4-FFF2-40B4-BE49-F238E27FC236}">
                <a16:creationId xmlns:a16="http://schemas.microsoft.com/office/drawing/2014/main" id="{2F175625-2DA1-A3DE-30DB-D07F37B17ED5}"/>
              </a:ext>
            </a:extLst>
          </p:cNvPr>
          <p:cNvSpPr/>
          <p:nvPr/>
        </p:nvSpPr>
        <p:spPr>
          <a:xfrm rot="19791614">
            <a:off x="11390046" y="738237"/>
            <a:ext cx="11574731" cy="11404870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18F170F-F362-E056-3510-0C09C9D4D9A2}"/>
              </a:ext>
            </a:extLst>
          </p:cNvPr>
          <p:cNvSpPr txBox="1"/>
          <p:nvPr/>
        </p:nvSpPr>
        <p:spPr>
          <a:xfrm>
            <a:off x="632023" y="3758506"/>
            <a:ext cx="9701015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A SEGUIR: PARTE 02
DETECTANDO DRIFT</a:t>
            </a:r>
          </a:p>
        </p:txBody>
      </p:sp>
      <p:sp>
        <p:nvSpPr>
          <p:cNvPr id="9" name="Freeform: Shape 40">
            <a:extLst>
              <a:ext uri="{FF2B5EF4-FFF2-40B4-BE49-F238E27FC236}">
                <a16:creationId xmlns:a16="http://schemas.microsoft.com/office/drawing/2014/main" id="{181D5567-6116-2790-00C7-2CCBA698AA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0" name="Freeform: Shape 41">
            <a:extLst>
              <a:ext uri="{FF2B5EF4-FFF2-40B4-BE49-F238E27FC236}">
                <a16:creationId xmlns:a16="http://schemas.microsoft.com/office/drawing/2014/main" id="{5DDDA17D-AF65-9317-C1ED-16BB0630A2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Deploy e Monitoramento de 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537146" y="4033334"/>
            <a:ext cx="151749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>Monitoramento de Performance e </a:t>
            </a:r>
            <a:r>
              <a:rPr lang="pt-BR" sz="6600" dirty="0" err="1">
                <a:solidFill>
                  <a:schemeClr val="bg2"/>
                </a:solidFill>
                <a:latin typeface="GothamHTF-Book" pitchFamily="2" charset="0"/>
              </a:rPr>
              <a:t>Detecção de Drift</a:t>
            </a:r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/>
            </a:r>
            <a:endParaRPr lang="en-BR" sz="66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en-US" sz="2800" dirty="0">
                <a:solidFill>
                  <a:schemeClr val="bg2"/>
                </a:solidFill>
                <a:latin typeface="GothamHTF-Book" pitchFamily="2" charset="0"/>
              </a:rPr>
              <a:t>PARTE 02</a:t>
            </a:r>
            <a:endParaRPr lang="en-ID" sz="2800" dirty="0">
              <a:solidFill>
                <a:schemeClr val="accent2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Rafael Tavares</a:t>
            </a:r>
            <a:endParaRPr lang="id-ID" sz="1800" dirty="0">
              <a:solidFill>
                <a:schemeClr val="bg2">
                  <a:lumMod val="7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05246"/>
            <a:ext cx="12585699" cy="38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• Data drift, concept drift e feature drift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Janela de referência vs janela de análise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Teste Kolmogorov-Smirnov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PSI (Population Stability Index)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Teste Chi-quadrado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Gama, J. et al. (2014). A Survey on Concept Drift Adaptation.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PARTE 02 —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DETECTANDO DRIFT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73161"/>
            <a:ext cx="12585699" cy="568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Três formas distintas de mudança nos dados: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Data drift — a distribuição das entradas muda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Concept drift — a relação entrada-saída muda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Feature drift — uma feature específica muda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Data drift costuma pedir re-treino com dados recentes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Concept drift exige repensar features ou o problema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Distinguir os dois é essencial para reagir certo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Um sensor descalibrado é feature drift; a pandemia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mudando o comportamento de pagadores é concept drift.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TIPOS DE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DRIFT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CD2A0031-E0CE-5D25-C245-F546B99D29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958DDA97-3A59-EAB5-29CB-30DB58682F0C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CC1A55E6-E3D5-F91D-001F-7EBD3C80BC35}"/>
              </a:ext>
            </a:extLst>
          </p:cNvPr>
          <p:cNvSpPr txBox="1"/>
          <p:nvPr/>
        </p:nvSpPr>
        <p:spPr>
          <a:xfrm>
            <a:off x="632025" y="3956795"/>
            <a:ext cx="7323255" cy="5668218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JANELA DE REFERÊNCIA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O baseline de comparação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Tipicamente os dados de treino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A fotografia do "mundo esperado"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55" name="TextBox 6">
            <a:extLst>
              <a:ext uri="{FF2B5EF4-FFF2-40B4-BE49-F238E27FC236}">
                <a16:creationId xmlns:a16="http://schemas.microsoft.com/office/drawing/2014/main" id="{9308E0BC-B29F-429F-4841-177AAF806E45}"/>
              </a:ext>
            </a:extLst>
          </p:cNvPr>
          <p:cNvSpPr txBox="1"/>
          <p:nvPr/>
        </p:nvSpPr>
        <p:spPr>
          <a:xfrm>
            <a:off x="9393107" y="4880124"/>
            <a:ext cx="7559870" cy="4744889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JANELA DE ANÁLISE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Dados recentes coletados em produção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Ex: dados da última semana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Comparada estatisticamente à referência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Ref: Huyen, C. (2022). Designing Machine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Learning Systems. O'Reilly Media.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E651B861-229C-4274-AC94-1E224E1EAED2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JANELA DE REFERÊNCIA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VS JANELA DE ANÁLISE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E246EA09-ABE3-3076-03FB-97AB23F374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144D7D88-24C6-8A43-B586-515BBA80E5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89203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PSI &lt; 0,1  ·  0,1 ≤ PSI &lt; 0,2  ·  PSI ≥ 0,2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Faixas de decisão: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1. Menor que 0,1 — distribuição estável, sem drift relevante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2. Entre 0,1 e 0,2 — drift moderado, atenção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3. Maior ou igual a 0,2 — drift significativo, ação necessária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O PSI nasceu no risco de crédito e hoje é padrão de mercado.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Klinkenberg, R. (2004). Population Stability Index.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PSI: INTERPRETANDO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O RESULTADO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CB89C133-E752-2C44-B5C9-B548033CEDC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eeform: Shape 1041">
            <a:extLst>
              <a:ext uri="{FF2B5EF4-FFF2-40B4-BE49-F238E27FC236}">
                <a16:creationId xmlns:a16="http://schemas.microsoft.com/office/drawing/2014/main" id="{2F175625-2DA1-A3DE-30DB-D07F37B17ED5}"/>
              </a:ext>
            </a:extLst>
          </p:cNvPr>
          <p:cNvSpPr/>
          <p:nvPr/>
        </p:nvSpPr>
        <p:spPr>
          <a:xfrm rot="19791614">
            <a:off x="11390046" y="738237"/>
            <a:ext cx="11574731" cy="11404870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18F170F-F362-E056-3510-0C09C9D4D9A2}"/>
              </a:ext>
            </a:extLst>
          </p:cNvPr>
          <p:cNvSpPr txBox="1"/>
          <p:nvPr/>
        </p:nvSpPr>
        <p:spPr>
          <a:xfrm>
            <a:off x="632023" y="3758506"/>
            <a:ext cx="9701015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A SEGUIR: PARTE 03
REAGINDO AO DRIFT</a:t>
            </a:r>
          </a:p>
        </p:txBody>
      </p:sp>
      <p:sp>
        <p:nvSpPr>
          <p:cNvPr id="9" name="Freeform: Shape 40">
            <a:extLst>
              <a:ext uri="{FF2B5EF4-FFF2-40B4-BE49-F238E27FC236}">
                <a16:creationId xmlns:a16="http://schemas.microsoft.com/office/drawing/2014/main" id="{181D5567-6116-2790-00C7-2CCBA698AA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0" name="Freeform: Shape 41">
            <a:extLst>
              <a:ext uri="{FF2B5EF4-FFF2-40B4-BE49-F238E27FC236}">
                <a16:creationId xmlns:a16="http://schemas.microsoft.com/office/drawing/2014/main" id="{5DDDA17D-AF65-9317-C1ED-16BB0630A2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Deploy e Monitoramento de 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537146" y="4033334"/>
            <a:ext cx="151749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>Monitoramento de Performance e </a:t>
            </a:r>
            <a:r>
              <a:rPr lang="pt-BR" sz="6600" dirty="0" err="1">
                <a:solidFill>
                  <a:schemeClr val="bg2"/>
                </a:solidFill>
                <a:latin typeface="GothamHTF-Book" pitchFamily="2" charset="0"/>
              </a:rPr>
              <a:t>Detecção de Drift</a:t>
            </a:r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/>
            </a:r>
            <a:endParaRPr lang="en-BR" sz="66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en-US" sz="2800" dirty="0">
                <a:solidFill>
                  <a:schemeClr val="bg2"/>
                </a:solidFill>
                <a:latin typeface="GothamHTF-Book" pitchFamily="2" charset="0"/>
              </a:rPr>
              <a:t>PARTE 03</a:t>
            </a:r>
            <a:endParaRPr lang="en-ID" sz="2800" dirty="0">
              <a:solidFill>
                <a:schemeClr val="accent2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Rafael Tavares</a:t>
            </a:r>
            <a:endParaRPr lang="id-ID" sz="1800" dirty="0">
              <a:solidFill>
                <a:schemeClr val="bg2">
                  <a:lumMod val="7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05246"/>
            <a:ext cx="12585699" cy="38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• Ferramentas de ML Observability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Evidently AI, NannyML e WhyLogs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Alertas e gatilhos de re-treino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Arquitetura de monitoramento ponta a ponta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Lab AWS — SageMaker Model Monitor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Evidently AI Documentation.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PARTE 03 —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REAGINDO AO DRIFT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CD2A0031-E0CE-5D25-C245-F546B99D29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958DDA97-3A59-EAB5-29CB-30DB58682F0C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CC1A55E6-E3D5-F91D-001F-7EBD3C80BC35}"/>
              </a:ext>
            </a:extLst>
          </p:cNvPr>
          <p:cNvSpPr txBox="1"/>
          <p:nvPr/>
        </p:nvSpPr>
        <p:spPr>
          <a:xfrm>
            <a:off x="632025" y="3956795"/>
            <a:ext cx="7323255" cy="5668218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ALERTAS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Notificam a equipe ao cruzar um limite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Ex: PSI ≥ 0,2 dispara um aviso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Precisam ser acionáveis, sem ruído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55" name="TextBox 6">
            <a:extLst>
              <a:ext uri="{FF2B5EF4-FFF2-40B4-BE49-F238E27FC236}">
                <a16:creationId xmlns:a16="http://schemas.microsoft.com/office/drawing/2014/main" id="{9308E0BC-B29F-429F-4841-177AAF806E45}"/>
              </a:ext>
            </a:extLst>
          </p:cNvPr>
          <p:cNvSpPr txBox="1"/>
          <p:nvPr/>
        </p:nvSpPr>
        <p:spPr>
          <a:xfrm>
            <a:off x="9393107" y="4880124"/>
            <a:ext cx="7559870" cy="4744889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GATILHOS DE RE-TREINO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Por agendamento (ex: mensal)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Por drift acima do limite aceitável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Por queda real de performance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Ref: Gama, J. et al. (2014). A Survey on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Concept Drift Adaptation. ACM.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E651B861-229C-4274-AC94-1E224E1EAED2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ALERTAS E GATILHOS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DE RE-TREINO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E246EA09-ABE3-3076-03FB-97AB23F374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144D7D88-24C6-8A43-B586-515BBA80E5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73161"/>
            <a:ext cx="12585699" cy="568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Não é preciso implementar os testes do zero: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Evidently AI — relatórios visuais de data drift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NannyML — estima performance sem ground truth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WhyLogs — perfis estatísticos leves e contínuos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O mesmo ecossistema inclui Arize, WhyLabs e Fiddler.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FERRAMENTAS DE ML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OBSERVABILITY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3D57F-81BF-50B2-77FF-BA0A047E0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en-US" sz="5000" dirty="0">
                <a:latin typeface="GothamHTF-Book" pitchFamily="2" charset="0"/>
              </a:rPr>
              <a:t>LAB AWS: MONITORANDO DRIFT COM O SAGEMAKER MODEL MONITOR</a:t>
            </a:r>
            <a:r>
              <a:rPr lang="en-US" sz="5000" dirty="0">
                <a:solidFill>
                  <a:srgbClr val="D30F59"/>
                </a:solidFill>
                <a:latin typeface="GothamHTF-Book" pitchFamily="2" charset="0"/>
              </a:rPr>
              <a:t/>
            </a: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>
              <a:defRPr/>
            </a:pPr>
            <a:r>
              <a:rPr kumimoji="0" lang="id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>A AWS oferece um caminho nativo para o mesmo problema que o Evidently resolve no seu notebook. Neste lab, vamos configurar o Amazon SageMaker Model Monitor para capturar as entradas de um endpoint em produção e compará-las automaticamente contra a distribuição de referência do treino.</a:t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id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id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id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r>
              <a:rPr kumimoji="0" lang="pt-B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/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D30F59"/>
              </a:solidFill>
              <a:effectLst/>
              <a:uLnTx/>
              <a:uFillTx/>
              <a:latin typeface="GothamHTF-Book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3925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89203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Endpoint → Data Capture → Baseline → Monitoring Schedule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Passos do laboratório: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1. Habilite Data Capture no endpoint do SageMaker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2. Gere a baseline estatística a partir dos dados de treino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3. Crie um Monitoring Schedule (ex: a cada hora)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4. O SageMaker compara produção vs baseline automaticamente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5. Violações disparam alertas via Amazon CloudWatch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O mesmo PSI e KS que vimos, agora rodando gerenciado na AWS.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AWS Documentation — Amazon SageMaker Model Monitor.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LAB AWS: SAGEMAKER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MODEL MONITOR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latin typeface="GothamHTF-Book"/>
              </a:rPr>
              <a:t>REFERÊNCIAS</a:t>
            </a:r>
          </a:p>
          <a:p>
            <a:endParaRPr sz="5000">
              <a:latin typeface="GothamHTF-Book"/>
            </a:endParaRPr>
          </a:p>
          <a:p>
            <a:r>
              <a:rPr sz="2800" b="0">
                <a:latin typeface="Roboto Light"/>
              </a:rPr>
              <a:t>• Huyen, C. (2022). Designing Machine Learning Systems. O'Reilly Media.</a:t>
            </a:r>
          </a:p>
          <a:p>
            <a:r>
              <a:rPr sz="2800" b="0">
                <a:latin typeface="Roboto Light"/>
              </a:rPr>
              <a:t>• Gama, J. et al. (2014). A Survey on Concept Drift Adaptation. ACM Computing Surveys.</a:t>
            </a:r>
          </a:p>
          <a:p>
            <a:r>
              <a:rPr sz="2800" b="0">
                <a:latin typeface="Roboto Light"/>
              </a:rPr>
              <a:t>• Evidently AI Documentation. https://docs.evidentlyai.com/</a:t>
            </a:r>
          </a:p>
          <a:p>
            <a:r>
              <a:rPr sz="2800" b="0">
                <a:latin typeface="Roboto Light"/>
              </a:rPr>
              <a:t>• NannyML Documentation. https://nannyml.readthedocs.io/</a:t>
            </a:r>
          </a:p>
          <a:p>
            <a:r>
              <a:rPr sz="2800" b="0">
                <a:latin typeface="Roboto Light"/>
              </a:rPr>
              <a:t>• Klinkenberg, R. (2004). Population Stability Index and its use in credit risk.</a:t>
            </a:r>
          </a:p>
          <a:p>
            <a:r>
              <a:rPr sz="2800" b="0">
                <a:latin typeface="Roboto Light"/>
              </a:rPr>
              <a:t>• AWS Documentation — Amazon SageMaker Model Monitor.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FD36-5D66-780A-9344-14CD25EA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47012D0-09A5-BD98-413D-F42756A19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755C72CB-F0DB-45ED-19FB-3B7D243A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DE27E93C-0441-0A0A-793F-6CD4230DC68D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78193CC-8976-7E39-D417-0339570F4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94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">
      <a:dk1>
        <a:sysClr val="windowText" lastClr="000000"/>
      </a:dk1>
      <a:lt1>
        <a:sysClr val="window" lastClr="FFFFFF"/>
      </a:lt1>
      <a:dk2>
        <a:srgbClr val="404040"/>
      </a:dk2>
      <a:lt2>
        <a:srgbClr val="F8F8F8"/>
      </a:lt2>
      <a:accent1>
        <a:srgbClr val="2770FF"/>
      </a:accent1>
      <a:accent2>
        <a:srgbClr val="202020"/>
      </a:accent2>
      <a:accent3>
        <a:srgbClr val="3E3E3E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3">
      <a:majorFont>
        <a:latin typeface="Inter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11172</TotalTime>
  <Words>626</Words>
  <Application>Microsoft Macintosh PowerPoint</Application>
  <PresentationFormat>Custom</PresentationFormat>
  <Paragraphs>106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Gotham HTF Book</vt:lpstr>
      <vt:lpstr>GothamHTF-Book</vt:lpstr>
      <vt:lpstr>Inter</vt:lpstr>
      <vt:lpstr>Open Sans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design studio moara</dc:creator>
  <cp:lastModifiedBy>Rafael Nogueira Tavares</cp:lastModifiedBy>
  <cp:revision>189</cp:revision>
  <dcterms:created xsi:type="dcterms:W3CDTF">2025-02-03T02:49:08Z</dcterms:created>
  <dcterms:modified xsi:type="dcterms:W3CDTF">2026-04-01T20:43:43Z</dcterms:modified>
</cp:coreProperties>
</file>